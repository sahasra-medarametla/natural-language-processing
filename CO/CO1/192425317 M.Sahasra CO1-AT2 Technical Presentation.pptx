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91" r:id="rId4"/>
    <p:sldId id="299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0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F705D-7CD0-447C-991B-E641C96EA9A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F6C89-D666-4C01-BF70-8DD520025F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2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83006-27E9-41AE-8A12-E6C67A5C8134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483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7DCE-9615-6B92-2B35-884A0DD4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6E4CD-34FF-8D6E-C406-00C620648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BBE35-5C1D-A3F5-D6EF-483F0EFD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788-186C-4A44-AB93-81C4A48E1194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C9EB3-8D3C-54B4-A5FB-14E05885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9E5A-BEDF-391E-457B-A84B2E34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16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5665-B4A2-BB95-F43A-E999E164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9C208-F076-05D9-7225-8BD86C0C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7A87-E998-6AFD-9BA8-5EA03128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362A6-CFE4-4DCD-9C64-C7E0AF5604AE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53A95-5F9C-2A2A-6E34-C8811DBF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7247F-144B-C220-CADF-CE19A564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0D56-A916-66B3-875A-F100D00D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48B3B-B981-598F-6FA9-D49AD6BF7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34029-A9B3-51F4-2D27-FC4F94F4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AA695-44F8-4575-B742-864C698C3C01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B2D90-D7EB-9E4A-79CA-5BC0073C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57975-72EA-EAD0-ED0C-0FA3BA1E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97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36FD-450C-900F-966D-3FE3453C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7AE8-A29E-82F1-9873-B5C717954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930E0-FC41-D189-2915-27432033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DA80C-DEAC-AE57-95F0-AC09B60A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9BA4-17AB-4A85-BAD3-BFDD3BDEE30C}" type="datetime1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9AFE5-F17A-382E-3454-1973AD46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39697-FE5E-8F70-EA1A-BCB1FF3A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4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4A4B-F61C-5BC4-2D71-C826BE22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B398A-98A0-4334-4A87-737E799A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A911A-F573-3FBA-B5AC-855E0F9E6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7D9DF-0CE6-D223-C991-DF91B2592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E89F6-4661-3F38-8675-B0D133A5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58EA8-14D8-A883-2F66-C177BAE8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397BD-EC54-4C8F-8D6F-7CA3F0813E4D}" type="datetime1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DC0D3-61E1-F1F4-A95A-37BEE6E4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2C3969-94CE-6F42-329E-1632E38B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49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22DE-90CA-A15B-945D-8CBC7C5A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9C173-6BEB-824E-27EC-2D543F68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4721E-8096-47E6-B981-9641402A8357}" type="datetime1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621C1-DED5-92B6-EEB5-F9856264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7C9E0-BE2C-6782-6F38-FEC40F67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8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AB865-801F-046D-D14A-6F74BC68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2D181-43EC-4752-98D3-5B13EAE65330}" type="datetime1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AA18E-978E-D02F-2345-427E8F40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10728-5271-51D4-7746-850F0C44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49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F010-154C-9B18-4466-30A9CE72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17ECE-F1CF-41D4-F5A7-9195C586B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97523-44CA-85E2-283A-C853E3D34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33789-14DA-1543-E3D4-4BA42DF5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1C2C-C157-4A92-8E61-86534B8A4C1D}" type="datetime1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D1281-095D-65DA-98C3-291397F6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25BA4-C3FC-E404-2FE1-AE5E4DB5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2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05D0-4B79-D765-2332-965AE9CA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FF9D0-FB44-2043-BD8E-B81B048EC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9EEBC-D246-73DD-DBB9-21E81F7FE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DC05A-74B1-60FA-AE0C-CF37E7A7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7ABDB-7323-47E2-81C0-D3F830E05BD6}" type="datetime1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9E2E5-5FD5-5629-15AE-83B4DE5A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EAE21-1303-246E-8DDF-560086FE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8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B42A-81FE-1388-A2A3-57BCBC9B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02D47-3183-A3A7-CACC-6310F8A5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6487E-77FB-37AF-A06A-235BDC4A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A565B-F616-4C7C-870A-C684BED1205F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FC792-E83B-70CA-0370-63D7797E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6192D-601E-3571-B77E-1B95D3B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7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3A9746-8DB5-A7E5-D3D5-C3DB404E7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1BC0E-C7E7-5882-2A39-CD3189A95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AEAD1-5A6A-361A-13A4-EFC65E34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E9538-7EFF-46BA-8320-779ECB5A7714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C3EB8-F349-CB1A-D599-191D6355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98EA-3C2E-C760-9D21-51AF89F9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7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90D12-7370-A816-28AB-0835F548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70A7-16E3-C239-5016-49813C70B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DC87D-B370-3B29-B062-A5D69B49D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F3960-0B51-4B6C-AEC2-680083FBA39A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0D077-A499-859D-D1FE-C6FFD9EE8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2E752-4611-CB6B-7C0C-AE2ED1A85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201F5-6537-4A0A-8CB8-60BD59C4B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34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29A00A-BF73-550D-48CB-803DFD914D33}"/>
              </a:ext>
            </a:extLst>
          </p:cNvPr>
          <p:cNvSpPr txBox="1"/>
          <p:nvPr/>
        </p:nvSpPr>
        <p:spPr>
          <a:xfrm>
            <a:off x="808866" y="4003409"/>
            <a:ext cx="3588446" cy="11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                                                                                    </a:t>
            </a:r>
          </a:p>
          <a:p>
            <a:pPr>
              <a:lnSpc>
                <a:spcPts val="4342"/>
              </a:lnSpc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Anbazhagan K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05E62-E104-775F-840C-A158606584B2}"/>
              </a:ext>
            </a:extLst>
          </p:cNvPr>
          <p:cNvSpPr txBox="1"/>
          <p:nvPr/>
        </p:nvSpPr>
        <p:spPr>
          <a:xfrm>
            <a:off x="8364826" y="4000844"/>
            <a:ext cx="3785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Sahasra Medarametla (192425317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61;p1">
            <a:extLst>
              <a:ext uri="{FF2B5EF4-FFF2-40B4-BE49-F238E27FC236}">
                <a16:creationId xmlns:a16="http://schemas.microsoft.com/office/drawing/2014/main" id="{A2501E97-8A9E-03E5-6CED-40B5314D9C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C6D4DDA1-9EBA-8202-BCAF-F96CE7D9D5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37E19-F153-1AC6-7C91-52D70576EBEC}"/>
              </a:ext>
            </a:extLst>
          </p:cNvPr>
          <p:cNvSpPr txBox="1"/>
          <p:nvPr/>
        </p:nvSpPr>
        <p:spPr>
          <a:xfrm>
            <a:off x="981964" y="1770258"/>
            <a:ext cx="1064833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DSA0305 – Natural Language Processing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Natural Language Processing: From Rule-Based Systems to Modern NLP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5F36C-8807-B630-0298-65DAA0DE1B3E}"/>
              </a:ext>
            </a:extLst>
          </p:cNvPr>
          <p:cNvSpPr txBox="1"/>
          <p:nvPr/>
        </p:nvSpPr>
        <p:spPr>
          <a:xfrm>
            <a:off x="2118175" y="467314"/>
            <a:ext cx="75708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 SCHOOL OF ENGINEERING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3F31C-1A88-7689-AE0B-DBB270DE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21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858053-62AE-66C8-F724-29F2CE3C9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Natural Language Processing (NLP)?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A036FAF4-F58F-0E84-D02C-CCB0462FF2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AC7A4A8B-E060-74EA-59DD-3F7C5409D8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85BCC2-0A6B-301C-8BE8-349F47D081FC}"/>
              </a:ext>
            </a:extLst>
          </p:cNvPr>
          <p:cNvSpPr txBox="1"/>
          <p:nvPr/>
        </p:nvSpPr>
        <p:spPr>
          <a:xfrm>
            <a:off x="414274" y="1606164"/>
            <a:ext cx="778582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is a branch of Artificial Intelligence.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understand, interpret, and generate human language.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Linguistics, Machine Learning, and Computer Science.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text, speech, and language-based applications.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2D1FD4-C555-C002-3DEE-DB2A190B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2</a:t>
            </a:fld>
            <a:endParaRPr lang="en-IN"/>
          </a:p>
        </p:txBody>
      </p:sp>
      <p:pic>
        <p:nvPicPr>
          <p:cNvPr id="8" name="Picture 7" descr="Natural Language Processing: Text generation with Python">
            <a:extLst>
              <a:ext uri="{FF2B5EF4-FFF2-40B4-BE49-F238E27FC236}">
                <a16:creationId xmlns:a16="http://schemas.microsoft.com/office/drawing/2014/main" id="{365D5D6A-0FE7-CF09-6AE0-83A50FCD5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496" y="1620091"/>
            <a:ext cx="4307390" cy="2411522"/>
          </a:xfrm>
          <a:prstGeom prst="rect">
            <a:avLst/>
          </a:prstGeom>
        </p:spPr>
      </p:pic>
      <p:pic>
        <p:nvPicPr>
          <p:cNvPr id="9" name="Picture 8" descr="What is Thai Natural Language Processing (NLP)? A Complete Beginner's Guide | iApp Technology">
            <a:extLst>
              <a:ext uri="{FF2B5EF4-FFF2-40B4-BE49-F238E27FC236}">
                <a16:creationId xmlns:a16="http://schemas.microsoft.com/office/drawing/2014/main" id="{956A35CB-4090-0521-A176-50032D6948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078" b="24021"/>
          <a:stretch>
            <a:fillRect/>
          </a:stretch>
        </p:blipFill>
        <p:spPr>
          <a:xfrm>
            <a:off x="3558054" y="4523249"/>
            <a:ext cx="7459577" cy="2084489"/>
          </a:xfrm>
          <a:prstGeom prst="rect">
            <a:avLst/>
          </a:prstGeom>
        </p:spPr>
      </p:pic>
      <p:pic>
        <p:nvPicPr>
          <p:cNvPr id="10" name="Picture 9" descr="What is Thai Natural Language Processing (NLP)? A Complete Beginner's Guide | iApp Technology">
            <a:extLst>
              <a:ext uri="{FF2B5EF4-FFF2-40B4-BE49-F238E27FC236}">
                <a16:creationId xmlns:a16="http://schemas.microsoft.com/office/drawing/2014/main" id="{A77532C4-B949-3A4C-462B-677785AC8C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73" t="4537" r="15506" b="85191"/>
          <a:stretch>
            <a:fillRect/>
          </a:stretch>
        </p:blipFill>
        <p:spPr>
          <a:xfrm>
            <a:off x="3849913" y="4049402"/>
            <a:ext cx="6564939" cy="47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2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D58C-F9FD-2BC5-8909-799FB60A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1740A6-C43B-9A00-1F4F-B2843EC0E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1E23D173-E80E-14EA-DF28-2D1F42962F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B550918F-35A0-D50E-8543-3B9DC4CF8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5790C7-DB6A-5C05-F32A-85B961E9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109ADA-AE83-4A22-26BC-F90100FD6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815693"/>
              </p:ext>
            </p:extLst>
          </p:nvPr>
        </p:nvGraphicFramePr>
        <p:xfrm>
          <a:off x="983226" y="1674298"/>
          <a:ext cx="10225548" cy="4827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962">
                  <a:extLst>
                    <a:ext uri="{9D8B030D-6E8A-4147-A177-3AD203B41FA5}">
                      <a16:colId xmlns:a16="http://schemas.microsoft.com/office/drawing/2014/main" val="2985270557"/>
                    </a:ext>
                  </a:extLst>
                </a:gridCol>
                <a:gridCol w="2568355">
                  <a:extLst>
                    <a:ext uri="{9D8B030D-6E8A-4147-A177-3AD203B41FA5}">
                      <a16:colId xmlns:a16="http://schemas.microsoft.com/office/drawing/2014/main" val="1218674055"/>
                    </a:ext>
                  </a:extLst>
                </a:gridCol>
                <a:gridCol w="5684231">
                  <a:extLst>
                    <a:ext uri="{9D8B030D-6E8A-4147-A177-3AD203B41FA5}">
                      <a16:colId xmlns:a16="http://schemas.microsoft.com/office/drawing/2014/main" val="2548884453"/>
                    </a:ext>
                  </a:extLst>
                </a:gridCol>
              </a:tblGrid>
              <a:tr h="494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Period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Characteristics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189489"/>
                  </a:ext>
                </a:extLst>
              </a:tr>
              <a:tr h="971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1950–1980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NLP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Relied on manually written grammar rules and dictionaries. No learning from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290757"/>
                  </a:ext>
                </a:extLst>
              </a:tr>
              <a:tr h="971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1980–2000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NLP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probability and statistical models trained on text corpora to process language.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194809"/>
                  </a:ext>
                </a:extLst>
              </a:tr>
              <a:tr h="1195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2000–2015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NLP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learned language patterns from datasets, improving accuracy and reducing manual rule creation.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245401"/>
                  </a:ext>
                </a:extLst>
              </a:tr>
              <a:tr h="1195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2015–Present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&amp; Modern NLP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networks and Transformer models understand context, semantics, and generate human-like 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606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99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795E-2C98-5B8F-6692-D2CF3361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FAEADC-3859-AF69-87A7-1A903A21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15C4A85B-E184-2693-152F-450AEB82B1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DB3989B7-FD0F-E153-8123-F28733176E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04EB4F-986E-6235-960B-10DF51B3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4" descr="Exploring the Impact of Natural Language Processing on CNI Operations –  Commtel">
            <a:extLst>
              <a:ext uri="{FF2B5EF4-FFF2-40B4-BE49-F238E27FC236}">
                <a16:creationId xmlns:a16="http://schemas.microsoft.com/office/drawing/2014/main" id="{8EC62C46-17BB-FB91-1F21-54B4BD596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60" y="1177852"/>
            <a:ext cx="9409070" cy="552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6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BA65-E1F7-1C5C-88DC-CD9F85EC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20A29C-5200-10A2-12EB-2B2DCFAAB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7A76B650-435E-655F-F08A-F43F2D1DB6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5C426502-AB76-F4C4-E60D-7B00052694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DE6571-3E25-3DCF-853D-7A18A1AF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5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8C3F1-A6DA-9107-BC8D-8646EECB93EA}"/>
              </a:ext>
            </a:extLst>
          </p:cNvPr>
          <p:cNvSpPr txBox="1"/>
          <p:nvPr/>
        </p:nvSpPr>
        <p:spPr>
          <a:xfrm>
            <a:off x="414274" y="1688300"/>
            <a:ext cx="7302910" cy="4593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Milestones:</a:t>
            </a:r>
          </a:p>
          <a:p>
            <a:pPr>
              <a:lnSpc>
                <a:spcPct val="200000"/>
              </a:lnSpc>
              <a:buNone/>
            </a:pPr>
            <a:endParaRPr lang="en-I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1950s: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Beginning of NLP research (Turing Test proposed).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1966: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ELIZA, one of the first chatbot programs.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Rise of Statistical NLP techniques.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Word2Vec introduced word embeddings.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architecture introduced ("Attention Is All You Need").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2018–Present: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Language Models (LLMs) such as BERT, GPT, and Gemini revolutionized NLP.</a:t>
            </a:r>
          </a:p>
        </p:txBody>
      </p:sp>
      <p:pic>
        <p:nvPicPr>
          <p:cNvPr id="8" name="Picture 7" descr="NLP Evolution — From Rules to AI Models | IT Chronicles">
            <a:extLst>
              <a:ext uri="{FF2B5EF4-FFF2-40B4-BE49-F238E27FC236}">
                <a16:creationId xmlns:a16="http://schemas.microsoft.com/office/drawing/2014/main" id="{FFF8F68B-7667-335E-6160-A327A7C1A5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65" t="9235" r="4098" b="26647"/>
          <a:stretch>
            <a:fillRect/>
          </a:stretch>
        </p:blipFill>
        <p:spPr>
          <a:xfrm>
            <a:off x="5985007" y="1688299"/>
            <a:ext cx="6138167" cy="290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1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3FCF-A296-B54D-F6EE-E27662FB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5D9C9B-F246-9E42-EC36-C0822C8A1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E7D4B387-FA3B-EBA2-53A1-68AC49DAC2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A05D7D96-1530-0C6B-7705-2971339303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10DAC-19DA-BF81-B081-46B237D9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46E2D-180B-1341-675D-9051C320F93C}"/>
              </a:ext>
            </a:extLst>
          </p:cNvPr>
          <p:cNvSpPr txBox="1"/>
          <p:nvPr/>
        </p:nvSpPr>
        <p:spPr>
          <a:xfrm>
            <a:off x="1549653" y="1460599"/>
            <a:ext cx="526410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grammar rules.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dictionaries and linguistic knowledge.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programming.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simple language processing tasks.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 limited domains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context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Checker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Machine Translation</a:t>
            </a:r>
          </a:p>
        </p:txBody>
      </p:sp>
      <p:pic>
        <p:nvPicPr>
          <p:cNvPr id="5" name="Picture 4" descr="The Ultimate Guide to NLP Chatbots in 2026">
            <a:extLst>
              <a:ext uri="{FF2B5EF4-FFF2-40B4-BE49-F238E27FC236}">
                <a16:creationId xmlns:a16="http://schemas.microsoft.com/office/drawing/2014/main" id="{20FD2107-5C88-02B4-E6F3-EFDBC27C92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11" t="3199" r="8511" b="3581"/>
          <a:stretch>
            <a:fillRect/>
          </a:stretch>
        </p:blipFill>
        <p:spPr>
          <a:xfrm>
            <a:off x="6410059" y="2381863"/>
            <a:ext cx="5367667" cy="364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7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3306-5068-3983-4E08-D0E1A7093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671491-D11E-96E5-BE63-9BFEAB6D8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52A319ED-9E37-D940-96DA-B36C1C79E54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99848068-5F97-ADAB-9A5E-6541FBD100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FC1D2-BAAF-171D-8077-1FEEBFE2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72B90-638F-FC95-5506-90157E4A638C}"/>
              </a:ext>
            </a:extLst>
          </p:cNvPr>
          <p:cNvSpPr txBox="1"/>
          <p:nvPr/>
        </p:nvSpPr>
        <p:spPr>
          <a:xfrm>
            <a:off x="1549654" y="1337494"/>
            <a:ext cx="526410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probability and statistics.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large text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most likely words or sentences.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Markov Model (HMM)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N-gram Models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than rule-based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ambiguity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large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contextual understanding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PPT - Statistical NLP in Language Processing Evolution PowerPoint  Presentation - ID:9230574">
            <a:extLst>
              <a:ext uri="{FF2B5EF4-FFF2-40B4-BE49-F238E27FC236}">
                <a16:creationId xmlns:a16="http://schemas.microsoft.com/office/drawing/2014/main" id="{B0D65D9C-DD29-4FD9-9065-15C8772CFC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39" b="9414"/>
          <a:stretch>
            <a:fillRect/>
          </a:stretch>
        </p:blipFill>
        <p:spPr>
          <a:xfrm>
            <a:off x="6478782" y="1941903"/>
            <a:ext cx="5528482" cy="411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3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54E3-94AC-F66A-1FEF-6927DF24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34AED7-1382-0393-2E0B-1D02416E3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Deep Learning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DBE0DEAE-4711-18F9-F1A4-02AE67491A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B0F2948F-A061-6746-E969-547741EB99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005204-A7EF-9AE7-4FAA-34BAFD51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94213-E7A2-115D-502F-030C185F7D6F}"/>
              </a:ext>
            </a:extLst>
          </p:cNvPr>
          <p:cNvSpPr txBox="1"/>
          <p:nvPr/>
        </p:nvSpPr>
        <p:spPr>
          <a:xfrm>
            <a:off x="1107203" y="1599163"/>
            <a:ext cx="526410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patterns from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automatically.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Neural Networks.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complex language structures.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ntroduction to Deep Learning. As stated in the “Introduction to… | by Shlomi Boutnaru, Ph.D. | Medium">
            <a:extLst>
              <a:ext uri="{FF2B5EF4-FFF2-40B4-BE49-F238E27FC236}">
                <a16:creationId xmlns:a16="http://schemas.microsoft.com/office/drawing/2014/main" id="{C570B270-6747-6F2D-1ED4-F886BBADF3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90" r="7793"/>
          <a:stretch>
            <a:fillRect/>
          </a:stretch>
        </p:blipFill>
        <p:spPr>
          <a:xfrm>
            <a:off x="5521577" y="1954953"/>
            <a:ext cx="6330136" cy="382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53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8EDD-1F3A-9398-AFE0-3DB6FA9B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F5E3DB-F377-F2F2-D25F-8C488856A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&amp; Modern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288B610E-9252-F450-25F7-7AA05A1294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1BC39AB5-948F-7ABF-E241-F488A6345C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742466-6643-6DA0-9C91-AA44F23C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FE078C-5A86-F8A1-211A-DA3340F1FE66}"/>
              </a:ext>
            </a:extLst>
          </p:cNvPr>
          <p:cNvSpPr txBox="1"/>
          <p:nvPr/>
        </p:nvSpPr>
        <p:spPr>
          <a:xfrm>
            <a:off x="1549654" y="1440364"/>
            <a:ext cx="564755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revolutionized NLP by understanding context more effectively.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Context Understanding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Training</a:t>
            </a:r>
          </a:p>
        </p:txBody>
      </p:sp>
      <p:pic>
        <p:nvPicPr>
          <p:cNvPr id="8" name="Picture 7" descr="Foundation Models, Transformers, BERT and GPT | Niklas Heidloff">
            <a:extLst>
              <a:ext uri="{FF2B5EF4-FFF2-40B4-BE49-F238E27FC236}">
                <a16:creationId xmlns:a16="http://schemas.microsoft.com/office/drawing/2014/main" id="{93D4C3B8-E4F1-9E33-49D1-00D3BBE47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567" y="1619319"/>
            <a:ext cx="4264742" cy="2328138"/>
          </a:xfrm>
          <a:prstGeom prst="rect">
            <a:avLst/>
          </a:prstGeom>
        </p:spPr>
      </p:pic>
      <p:pic>
        <p:nvPicPr>
          <p:cNvPr id="10" name="Picture 9" descr="What is Transformer Architecture and How It Works?">
            <a:extLst>
              <a:ext uri="{FF2B5EF4-FFF2-40B4-BE49-F238E27FC236}">
                <a16:creationId xmlns:a16="http://schemas.microsoft.com/office/drawing/2014/main" id="{76A952F1-DCF3-E54B-59AD-9D1BACAD8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442" y="4046137"/>
            <a:ext cx="5024284" cy="26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5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506-2118-13E0-8726-D69FC3C6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5A04BD-E259-55A6-9671-0AA30103B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Modern NLP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953F288E-829F-D8B6-EB9E-4C70DF43D17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C971B69A-2918-0B78-F410-E6A443BCDF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51FBC-D0D0-77C0-9806-D35E04F2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6A6DC-C96F-6C66-4B78-881E60111C6C}"/>
              </a:ext>
            </a:extLst>
          </p:cNvPr>
          <p:cNvSpPr txBox="1"/>
          <p:nvPr/>
        </p:nvSpPr>
        <p:spPr>
          <a:xfrm>
            <a:off x="1549655" y="1523548"/>
            <a:ext cx="3769598" cy="526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Alexa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Grammarly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Spam Detection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pic>
        <p:nvPicPr>
          <p:cNvPr id="5" name="Picture 4" descr="NLP in AI: Benefits, Techniques, Use Cases, and More">
            <a:extLst>
              <a:ext uri="{FF2B5EF4-FFF2-40B4-BE49-F238E27FC236}">
                <a16:creationId xmlns:a16="http://schemas.microsoft.com/office/drawing/2014/main" id="{4786A869-D002-4A25-B73E-18CD883A4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289" y="1523547"/>
            <a:ext cx="5025464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3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902A-9D47-015D-D127-CBD2714D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9BA8FA-77AC-4098-4327-6D99CE993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21" y="506789"/>
            <a:ext cx="8396748" cy="690492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BBEFBE43-405E-1490-ADAD-5D3A750005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B86EEBB5-EE62-536C-63EA-CD3C56C0F6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6DF52-ABCB-954B-7250-1F9CFC27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11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A3B2DA-6634-35FA-26DC-A1E2C12A7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041415"/>
              </p:ext>
            </p:extLst>
          </p:nvPr>
        </p:nvGraphicFramePr>
        <p:xfrm>
          <a:off x="1839595" y="1523548"/>
          <a:ext cx="8127999" cy="5073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183488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219159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43817062"/>
                    </a:ext>
                  </a:extLst>
                </a:gridCol>
              </a:tblGrid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NLP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221996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757199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422882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070934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3887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967428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012472"/>
                  </a:ext>
                </a:extLst>
              </a:tr>
              <a:tr h="634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Grammar Checkers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ChatGPT, Gemini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785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29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AB528-0FC1-6DBC-59B0-78A8E402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07D70-0C49-7E24-222A-1E683EB7F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3762" y="442960"/>
            <a:ext cx="7639665" cy="766408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D812E1FB-3E2D-296D-75D1-621BC741EEB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B19E08-90E6-584D-D5A7-DBACE3787DB7}"/>
              </a:ext>
            </a:extLst>
          </p:cNvPr>
          <p:cNvSpPr txBox="1"/>
          <p:nvPr/>
        </p:nvSpPr>
        <p:spPr>
          <a:xfrm>
            <a:off x="414274" y="1839891"/>
            <a:ext cx="6782939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has evolved from rule-based systems to intelligent AI models.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 improved language understanding.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introduced data-driven learning.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and LLMs have revolutionized NLP.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NLP powers today's smart applications and will continue to shape the future of AI.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7D5610-AC86-196D-DD5E-8652CBF4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12</a:t>
            </a:fld>
            <a:endParaRPr lang="en-IN"/>
          </a:p>
        </p:txBody>
      </p:sp>
      <p:pic>
        <p:nvPicPr>
          <p:cNvPr id="8" name="Google Shape;162;p1">
            <a:extLst>
              <a:ext uri="{FF2B5EF4-FFF2-40B4-BE49-F238E27FC236}">
                <a16:creationId xmlns:a16="http://schemas.microsoft.com/office/drawing/2014/main" id="{9AFF65F6-B442-CB02-8152-77D4779BED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4184" y="154651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I Landscape 2025: Open-Source Revolution and Global Competition">
            <a:extLst>
              <a:ext uri="{FF2B5EF4-FFF2-40B4-BE49-F238E27FC236}">
                <a16:creationId xmlns:a16="http://schemas.microsoft.com/office/drawing/2014/main" id="{65437B92-B972-B3E7-86BF-7EF7DB764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213" y="2435327"/>
            <a:ext cx="4874086" cy="278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9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22A93-633A-CBD6-C8FC-4ECB2E39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1;p1">
            <a:extLst>
              <a:ext uri="{FF2B5EF4-FFF2-40B4-BE49-F238E27FC236}">
                <a16:creationId xmlns:a16="http://schemas.microsoft.com/office/drawing/2014/main" id="{6DF8B300-F35C-5595-6586-D1586E69FD3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62;p1">
            <a:extLst>
              <a:ext uri="{FF2B5EF4-FFF2-40B4-BE49-F238E27FC236}">
                <a16:creationId xmlns:a16="http://schemas.microsoft.com/office/drawing/2014/main" id="{D06C27F7-5FAE-D8A2-834D-F765FA9585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8E2522-B6AC-846A-E6BB-49BE3890B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664" y="1664109"/>
            <a:ext cx="5294671" cy="35297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D184E-A96C-F59E-2A20-D211DE3B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45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553</Words>
  <Application>Microsoft Office PowerPoint</Application>
  <PresentationFormat>Widescreen</PresentationFormat>
  <Paragraphs>181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SAHASRA MEDARAMETLA</dc:creator>
  <cp:lastModifiedBy>SAHASRA MEDARAMETLA</cp:lastModifiedBy>
  <cp:revision>30</cp:revision>
  <dcterms:created xsi:type="dcterms:W3CDTF">2026-02-13T18:58:16Z</dcterms:created>
  <dcterms:modified xsi:type="dcterms:W3CDTF">2026-07-24T19:12:34Z</dcterms:modified>
</cp:coreProperties>
</file>